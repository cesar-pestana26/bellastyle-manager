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ira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nton" panose="020B0604020202020204" charset="0"/>
      <p:regular r:id="rId1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72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776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BellaStyle Manager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3325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Sistema Web de Gestión Integral para Salones de Belleza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19536"/>
            <a:ext cx="1567309" cy="266402"/>
          </a:xfrm>
          <a:prstGeom prst="roundRect">
            <a:avLst>
              <a:gd name="adj" fmla="val 6386"/>
            </a:avLst>
          </a:prstGeom>
          <a:solidFill>
            <a:srgbClr val="490315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2162026"/>
            <a:ext cx="18543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PROYECTO DE GRADO ·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2545407"/>
            <a:ext cx="4722763" cy="152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Ronald Fernández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Cesar Pastana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victor Mena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Tecnología en Desarrollo de Software · Semestre IV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Fundación Universitaria Colombo Internacional · Cartagena de Indias</a:t>
            </a:r>
            <a:endParaRPr lang="en-US" sz="1100" dirty="0"/>
          </a:p>
        </p:txBody>
      </p:sp>
      <p:sp>
        <p:nvSpPr>
          <p:cNvPr id="8" name="Rectángulo 7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94162" y="406673"/>
            <a:ext cx="1713607" cy="253901"/>
          </a:xfrm>
          <a:prstGeom prst="roundRect">
            <a:avLst>
              <a:gd name="adj" fmla="val 6282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78622" y="451247"/>
            <a:ext cx="2001887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01 · INTRODUCCIÓN Y PROBLEMA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94162" y="710357"/>
            <a:ext cx="4784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Sector que Necesita Modernización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894162" y="1727820"/>
            <a:ext cx="478467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mayoría de salones de belleza en Colombia operan con </a:t>
            </a:r>
            <a:r>
              <a:rPr lang="en-US" sz="10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procesos manuales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agendas físicas, registros escritos y control ineficiente. Esto genera errores administrativos, pérdida de información y baja competitividad.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94162" y="2485876"/>
            <a:ext cx="2330053" cy="1166143"/>
          </a:xfrm>
          <a:prstGeom prst="roundRect">
            <a:avLst>
              <a:gd name="adj" fmla="val 1710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4027066" y="261878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Problemas Operativos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7066" y="2901181"/>
            <a:ext cx="206424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Duplicación de horarios, pérdida de citas y desorganización de clientes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48785" y="2485876"/>
            <a:ext cx="2330053" cy="1166143"/>
          </a:xfrm>
          <a:prstGeom prst="roundRect">
            <a:avLst>
              <a:gd name="adj" fmla="val 1710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481688" y="261878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Control Financiero Débil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81688" y="2901181"/>
            <a:ext cx="206424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 visibilidad de ingresos, servicios más vendidos ni rendimiento de estilistas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94162" y="3776588"/>
            <a:ext cx="4784675" cy="960165"/>
          </a:xfrm>
          <a:prstGeom prst="roundRect">
            <a:avLst>
              <a:gd name="adj" fmla="val 2076"/>
            </a:avLst>
          </a:prstGeom>
          <a:solidFill>
            <a:srgbClr val="3E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4027066" y="39094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27066" y="4191893"/>
            <a:ext cx="451886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BellaStyle Manager: plataforma web para automatizar y centralizar toda la gestión del salón</a:t>
            </a:r>
            <a:endParaRPr lang="en-US" sz="1000" dirty="0"/>
          </a:p>
        </p:txBody>
      </p:sp>
      <p:sp>
        <p:nvSpPr>
          <p:cNvPr id="16" name="Rectángulo 15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45653"/>
            <a:ext cx="855166" cy="197197"/>
          </a:xfrm>
          <a:prstGeom prst="roundRect">
            <a:avLst>
              <a:gd name="adj" fmla="val 660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82935"/>
            <a:ext cx="1172617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02 · JUSTIFICACIÓN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76039"/>
            <a:ext cx="3698007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¿Por Qué BellaStyle Manager?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33326"/>
            <a:ext cx="4775299" cy="2705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2179737"/>
            <a:ext cx="244911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transformación digital es fundamental para mejorar la eficiencia de los negocios. BellaStyle Manager responde a una necesidad real del sector, con impacto académico y comercial.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27336" y="4026247"/>
            <a:ext cx="2441004" cy="771525"/>
          </a:xfrm>
          <a:prstGeom prst="roundRect">
            <a:avLst>
              <a:gd name="adj" fmla="val 8889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048" y="4026247"/>
            <a:ext cx="57150" cy="771525"/>
          </a:xfrm>
          <a:prstGeom prst="roundRect">
            <a:avLst>
              <a:gd name="adj" fmla="val 28488"/>
            </a:avLst>
          </a:prstGeom>
          <a:solidFill>
            <a:srgbClr val="FA95AE"/>
          </a:solidFill>
          <a:ln/>
        </p:spPr>
      </p:sp>
      <p:sp>
        <p:nvSpPr>
          <p:cNvPr id="9" name="Text 6"/>
          <p:cNvSpPr/>
          <p:nvPr/>
        </p:nvSpPr>
        <p:spPr>
          <a:xfrm>
            <a:off x="992981" y="414903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Automatización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2981" y="4368403"/>
            <a:ext cx="215257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 de citas, inventarios, pagos y reportes sin intervención manual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51386" y="4026247"/>
            <a:ext cx="2441079" cy="771525"/>
          </a:xfrm>
          <a:prstGeom prst="roundRect">
            <a:avLst>
              <a:gd name="adj" fmla="val 8889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099" y="4026247"/>
            <a:ext cx="57150" cy="771525"/>
          </a:xfrm>
          <a:prstGeom prst="roundRect">
            <a:avLst>
              <a:gd name="adj" fmla="val 28488"/>
            </a:avLst>
          </a:prstGeom>
          <a:solidFill>
            <a:srgbClr val="FA95AE"/>
          </a:solidFill>
          <a:ln/>
        </p:spPr>
      </p:sp>
      <p:sp>
        <p:nvSpPr>
          <p:cNvPr id="13" name="Text 10"/>
          <p:cNvSpPr/>
          <p:nvPr/>
        </p:nvSpPr>
        <p:spPr>
          <a:xfrm>
            <a:off x="3517032" y="414903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Productividad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17032" y="4368403"/>
            <a:ext cx="215265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Reducción de errores humanos y optimización de la atención al cliente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75511" y="4026247"/>
            <a:ext cx="2441079" cy="771525"/>
          </a:xfrm>
          <a:prstGeom prst="roundRect">
            <a:avLst>
              <a:gd name="adj" fmla="val 8889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61224" y="4026247"/>
            <a:ext cx="57150" cy="771525"/>
          </a:xfrm>
          <a:prstGeom prst="roundRect">
            <a:avLst>
              <a:gd name="adj" fmla="val 28488"/>
            </a:avLst>
          </a:prstGeom>
          <a:solidFill>
            <a:srgbClr val="FA95AE"/>
          </a:solidFill>
          <a:ln/>
        </p:spPr>
      </p:sp>
      <p:sp>
        <p:nvSpPr>
          <p:cNvPr id="17" name="Text 14"/>
          <p:cNvSpPr/>
          <p:nvPr/>
        </p:nvSpPr>
        <p:spPr>
          <a:xfrm>
            <a:off x="6041157" y="414903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Potencial Comercial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41157" y="4368403"/>
            <a:ext cx="215265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Escalable a múltiples negocios del sector belleza y estética</a:t>
            </a:r>
            <a:endParaRPr lang="en-US" sz="850" dirty="0"/>
          </a:p>
        </p:txBody>
      </p:sp>
      <p:sp>
        <p:nvSpPr>
          <p:cNvPr id="19" name="Rectángulo 18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60722"/>
            <a:ext cx="92094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07975"/>
            <a:ext cx="11985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03 · OBJETIVOS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335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Objetivos del Proyecto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08720" y="1808411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Objetivo General: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Desarrollar un sistema web de gestión integral para salones de belleza que permita administrar citas, clientes, estilistas, productos, pagos e inventarios de forma eficiente, automatizada y segura.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648941"/>
            <a:ext cx="19050" cy="772567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58097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802880"/>
            <a:ext cx="2622724" cy="1905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2911822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Diseñar interfaz moderna, intuitiva y responsive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58097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0601" y="2802880"/>
            <a:ext cx="2622724" cy="1905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2" name="Text 10"/>
          <p:cNvSpPr/>
          <p:nvPr/>
        </p:nvSpPr>
        <p:spPr>
          <a:xfrm>
            <a:off x="3260601" y="2911822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Implementar autenticación y control de acceso por roles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25083" y="258097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2802880"/>
            <a:ext cx="2622724" cy="1905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2911822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Desarrollar módulos de citas, clientes e inventario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60275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824660"/>
            <a:ext cx="4004965" cy="1905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933602"/>
            <a:ext cx="40049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Generar reportes administrativos y estadísticas dinámicas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60275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824660"/>
            <a:ext cx="4004965" cy="1905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933602"/>
            <a:ext cx="40049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Garantizar seguridad, privacidad e integridad de la información</a:t>
            </a:r>
            <a:endParaRPr lang="en-US" sz="1350" dirty="0"/>
          </a:p>
        </p:txBody>
      </p:sp>
      <p:sp>
        <p:nvSpPr>
          <p:cNvPr id="22" name="Rectángulo 21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1113234" cy="197197"/>
          </a:xfrm>
          <a:prstGeom prst="roundRect">
            <a:avLst>
              <a:gd name="adj" fmla="val 660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1430685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04 · MARCO REFERENCIAL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Marco Teórico y Legal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071" y="2355354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Marco Legal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09071" y="2607915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sistema se alinea con la normativa colombiana vigente: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709071" y="2835994"/>
            <a:ext cx="3612207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Ley 1581 de 2012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Protección de datos personales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Ley 1273 de 2009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Delitos informáticos y seguridad digital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Ley 527 de 1999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Comercio electrónico y mensajes de datos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Habeas Data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Derecho de usuarios sobre sus datos personales</a:t>
            </a:r>
            <a:endParaRPr lang="en-US" sz="850" dirty="0"/>
          </a:p>
        </p:txBody>
      </p:sp>
      <p:sp>
        <p:nvSpPr>
          <p:cNvPr id="10" name="Rectángulo 9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912" y="347663"/>
            <a:ext cx="877119" cy="202183"/>
          </a:xfrm>
          <a:prstGeom prst="roundRect">
            <a:avLst>
              <a:gd name="adj" fmla="val 6574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127" y="385614"/>
            <a:ext cx="1191890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6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05 · METODOLOGÍA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50912" y="584448"/>
            <a:ext cx="338464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Metodología de Desarrollo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50912" y="1060326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 empleará una </a:t>
            </a: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metodología incremental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construyendo el sistema por módulos de manera organizada y progresiva, con validación continua en cada fase.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1473175"/>
            <a:ext cx="553715" cy="664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1096" y="158390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91096" y="1808783"/>
            <a:ext cx="700191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Identificación de requerimientos funcionales y necesidades del sistema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12" y="2137693"/>
            <a:ext cx="553715" cy="664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1096" y="224842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Diseño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391096" y="2473300"/>
            <a:ext cx="700191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Diagramas UML, arquitectura del sistema y diseño visual de interfaces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2" y="2802210"/>
            <a:ext cx="553715" cy="664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91096" y="291293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Desarrollo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391096" y="3137818"/>
            <a:ext cx="700191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Implementación de frontend y backend con tecnologías web modernas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12" y="3466728"/>
            <a:ext cx="553715" cy="664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91096" y="357745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Pruebas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391096" y="3802335"/>
            <a:ext cx="700191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Validaciones funcionales y corrección de errores antes del despliegue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12" y="4131246"/>
            <a:ext cx="553715" cy="664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91096" y="424197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Implementación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1391096" y="4466853"/>
            <a:ext cx="700191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Integración de módulos y puesta en funcionamiento del sistema</a:t>
            </a:r>
            <a:endParaRPr lang="en-US" sz="850" dirty="0"/>
          </a:p>
        </p:txBody>
      </p:sp>
      <p:sp>
        <p:nvSpPr>
          <p:cNvPr id="21" name="Rectángulo 20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13990"/>
            <a:ext cx="197814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4936" y="661243"/>
            <a:ext cx="22557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06 · ARQUITECTURA Y TECNOLOGÍAS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46621"/>
            <a:ext cx="40903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Arquitectura del Software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3925119" y="1602209"/>
            <a:ext cx="4722763" cy="2314129"/>
          </a:xfrm>
          <a:prstGeom prst="roundRect">
            <a:avLst>
              <a:gd name="adj" fmla="val 919"/>
            </a:avLst>
          </a:prstGeom>
          <a:solidFill>
            <a:srgbClr val="3E3E3E"/>
          </a:solidFill>
          <a:ln/>
        </p:spPr>
      </p:sp>
      <p:sp>
        <p:nvSpPr>
          <p:cNvPr id="7" name="Shape 4"/>
          <p:cNvSpPr/>
          <p:nvPr/>
        </p:nvSpPr>
        <p:spPr>
          <a:xfrm>
            <a:off x="3925119" y="1602209"/>
            <a:ext cx="2361381" cy="1270471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4066877" y="17439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6877" y="2050479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HTML5, CSS3, JavaScript y Chart.js para la interfaz visual y experiencia del usuario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86500" y="1602209"/>
            <a:ext cx="2361381" cy="1270471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1602209"/>
            <a:ext cx="19050" cy="1270471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59" y="17439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8259" y="2050479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Node.js y Express.js para la lógica del sistema, APIs y gestión de peticiones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2872680"/>
            <a:ext cx="4722763" cy="1043657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5" name="Shape 12"/>
          <p:cNvSpPr/>
          <p:nvPr/>
        </p:nvSpPr>
        <p:spPr>
          <a:xfrm>
            <a:off x="3925119" y="2872680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</p:sp>
      <p:sp>
        <p:nvSpPr>
          <p:cNvPr id="16" name="Text 13"/>
          <p:cNvSpPr/>
          <p:nvPr/>
        </p:nvSpPr>
        <p:spPr>
          <a:xfrm>
            <a:off x="4066877" y="30144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066877" y="332095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MySQL para el almacenamiento relacional de usuarios, citas, productos y pagos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925119" y="407580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Herramientas de desarrollo: </a:t>
            </a: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 Studio Code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Draw.io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(diagramas UML) y </a:t>
            </a: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GitHub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(control de versiones).</a:t>
            </a:r>
            <a:endParaRPr lang="en-US" sz="1100" dirty="0"/>
          </a:p>
        </p:txBody>
      </p:sp>
      <p:sp>
        <p:nvSpPr>
          <p:cNvPr id="19" name="Rectángulo 18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54162"/>
            <a:ext cx="132486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201415"/>
            <a:ext cx="160243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07 · FUNCIONALIDADES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8679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Módulos del Sistema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42381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00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Gestión de Citas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308896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Crear, editar y cancelar citas con control de horarios y notificaciones automáticas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42381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300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Gestión de Clientes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330889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Registro organizado, historial de servicios e información personal de cada cliente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42381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300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Control de Inventario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30889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Seguimiento de stock de productos con alertas automáticas de reposición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42381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300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Estadísticas y Reportes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330889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Ingresos mensuales, servicios más vendidos y clientes frecuentes en tiempo real</a:t>
            </a:r>
            <a:endParaRPr lang="en-US" sz="1100" dirty="0"/>
          </a:p>
        </p:txBody>
      </p:sp>
      <p:sp>
        <p:nvSpPr>
          <p:cNvPr id="17" name="Rectángulo 16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55699"/>
            <a:ext cx="1317947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387" y="398338"/>
            <a:ext cx="1614115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08 · DISEÑO Y SEGURIDAD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38621"/>
            <a:ext cx="489756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Interfaz, Seguridad y Base de Datos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504057"/>
            <a:ext cx="5261297" cy="29813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6005" y="1314227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Diseño de Interfaz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6005" y="1623938"/>
            <a:ext cx="2690813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 empresarial moderno con paleta: </a:t>
            </a:r>
            <a:r>
              <a:rPr lang="en-US" sz="9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rosa premium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negro elegante, dorado y blanco minimalista. Diseño completamente responsive para computadores, tablets y móviles.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16005" y="269111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Seguridad del Sistema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16005" y="3000821"/>
            <a:ext cx="2690813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Autenticación con tokens JWT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Encriptación de contraseñas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Validación de formularios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 de acceso por roles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16005" y="3994919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16005" y="4304630"/>
            <a:ext cx="269081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Tablas relacionales en MySQL: Usuarios, Clientes, Citas, Productos, Pagos y Reportes.</a:t>
            </a:r>
            <a:endParaRPr lang="en-US" sz="950" dirty="0"/>
          </a:p>
        </p:txBody>
      </p:sp>
      <p:sp>
        <p:nvSpPr>
          <p:cNvPr id="12" name="Rectángulo 11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32101" y="354881"/>
            <a:ext cx="1294805" cy="212154"/>
          </a:xfrm>
          <a:prstGeom prst="roundRect">
            <a:avLst>
              <a:gd name="adj" fmla="val 6515"/>
            </a:avLst>
          </a:prstGeom>
          <a:noFill/>
          <a:ln w="4763">
            <a:solidFill>
              <a:srgbClr val="FA95A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05920" y="394171"/>
            <a:ext cx="1604367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09 · RESULTADOS E IMPACTO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832101" y="604465"/>
            <a:ext cx="4221287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Resultados Esperados e Impacto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832101" y="1104751"/>
            <a:ext cx="4908798" cy="633264"/>
          </a:xfrm>
          <a:prstGeom prst="roundRect">
            <a:avLst>
              <a:gd name="adj" fmla="val 2728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3947220" y="121987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Mejor Organización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47220" y="1455911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Centralización de toda la información operativa del salón en una sola plataforma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32101" y="1831553"/>
            <a:ext cx="4908798" cy="633264"/>
          </a:xfrm>
          <a:prstGeom prst="roundRect">
            <a:avLst>
              <a:gd name="adj" fmla="val 2728"/>
            </a:avLst>
          </a:prstGeom>
          <a:solidFill>
            <a:srgbClr val="3E3E3E"/>
          </a:solidFill>
          <a:ln/>
        </p:spPr>
      </p:sp>
      <p:sp>
        <p:nvSpPr>
          <p:cNvPr id="10" name="Text 7"/>
          <p:cNvSpPr/>
          <p:nvPr/>
        </p:nvSpPr>
        <p:spPr>
          <a:xfrm>
            <a:off x="3947220" y="194667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47220" y="2182713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Reducción de errores humanos y procesos repetitivos eliminados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32101" y="2558355"/>
            <a:ext cx="4908798" cy="633264"/>
          </a:xfrm>
          <a:prstGeom prst="roundRect">
            <a:avLst>
              <a:gd name="adj" fmla="val 2728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3947220" y="267347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Mayor Productividad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47220" y="2909515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Incremento en la eficiencia operativa y mejora en la experiencia del cliente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32101" y="3285158"/>
            <a:ext cx="4908798" cy="633264"/>
          </a:xfrm>
          <a:prstGeom prst="roundRect">
            <a:avLst>
              <a:gd name="adj" fmla="val 2728"/>
            </a:avLst>
          </a:prstGeom>
          <a:solidFill>
            <a:srgbClr val="3E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3947220" y="340027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Modernización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47220" y="3636318"/>
            <a:ext cx="467856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Mayor competitividad empresarial mediante tecnología web actualizada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32101" y="4023643"/>
            <a:ext cx="4908798" cy="764902"/>
          </a:xfrm>
          <a:prstGeom prst="roundRect">
            <a:avLst>
              <a:gd name="adj" fmla="val 2259"/>
            </a:avLst>
          </a:prstGeom>
          <a:solidFill>
            <a:srgbClr val="490315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220" y="4190554"/>
            <a:ext cx="143917" cy="11511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06255" y="4145905"/>
            <a:ext cx="4419526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Recomendaciones:</a:t>
            </a:r>
            <a:r>
              <a:rPr lang="en-US" sz="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Implementar copias de seguridad periódicas, actualizar el sistema constantemente, capacitar a los usuarios finales e integrar pagos en línea en futuras versiones.</a:t>
            </a:r>
            <a:endParaRPr lang="en-US" sz="900" dirty="0"/>
          </a:p>
        </p:txBody>
      </p:sp>
      <p:sp>
        <p:nvSpPr>
          <p:cNvPr id="21" name="Rectángulo 20"/>
          <p:cNvSpPr/>
          <p:nvPr/>
        </p:nvSpPr>
        <p:spPr>
          <a:xfrm>
            <a:off x="7926438" y="4704430"/>
            <a:ext cx="1217562" cy="4390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737</Words>
  <Application>Microsoft Office PowerPoint</Application>
  <PresentationFormat>Presentación en pantalla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Fira Sans</vt:lpstr>
      <vt:lpstr>Arial</vt:lpstr>
      <vt:lpstr>Anton Light</vt:lpstr>
      <vt:lpstr>Calibri</vt:lpstr>
      <vt:lpstr>Anton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KernelOS</cp:lastModifiedBy>
  <cp:revision>2</cp:revision>
  <dcterms:created xsi:type="dcterms:W3CDTF">2026-05-25T20:11:12Z</dcterms:created>
  <dcterms:modified xsi:type="dcterms:W3CDTF">2026-05-25T20:14:03Z</dcterms:modified>
</cp:coreProperties>
</file>